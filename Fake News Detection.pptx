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Merriweather"/>
      <p:regular r:id="rId19"/>
      <p:bold r:id="rId20"/>
      <p:italic r:id="rId21"/>
      <p:boldItalic r:id="rId22"/>
    </p:embeddedFont>
    <p:embeddedFont>
      <p:font typeface="DM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B62B3E-FD27-4178-84D0-6D260D98BCC8}">
  <a:tblStyle styleId="{92B62B3E-FD27-4178-84D0-6D260D98BCC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22" Type="http://schemas.openxmlformats.org/officeDocument/2006/relationships/font" Target="fonts/Merriweather-boldItalic.fntdata"/><Relationship Id="rId21" Type="http://schemas.openxmlformats.org/officeDocument/2006/relationships/font" Target="fonts/Merriweather-italic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erriweather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95562" y="2063055"/>
            <a:ext cx="7000875" cy="712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Fake News Detection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62250" y="2965995"/>
            <a:ext cx="666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762250" y="3937545"/>
            <a:ext cx="6667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Vishnu Teja Gudipati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| Riv ID: A0000072432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762250" y="4366170"/>
            <a:ext cx="6667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COMP-690-AH2: Topics in Computer Science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771650"/>
            <a:ext cx="52387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3867150"/>
            <a:ext cx="52387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71650"/>
            <a:ext cx="52387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867150"/>
            <a:ext cx="5238750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52500" y="2009775"/>
            <a:ext cx="495061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Classification Integrity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2495550"/>
            <a:ext cx="47148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Develop a supervised learning pipeline to classify news articles as "Real" or "Fake" with a target F1-score exceeding 0.95.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4105275"/>
            <a:ext cx="495061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Contextual Benchmarking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4591050"/>
            <a:ext cx="47148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Directly compare TF-IDF frequency analysis against BERT's bidirectional attention mechanisms to quantify the "context premium."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72250" y="2009775"/>
            <a:ext cx="495061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Automated Visualization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72250" y="2495550"/>
            <a:ext cx="47148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Implement an end-to-end script that generates loss curves and confusion matrices to enable immediate qualitative failure analysis.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72250" y="4105275"/>
            <a:ext cx="495061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Reproducibility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72250" y="4591050"/>
            <a:ext cx="4714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Ensure all hyperparameters and architectural choices are documented in a standard config.json format.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6750" y="4762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Program Implementation Objectives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666750" y="1047750"/>
            <a:ext cx="108585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424112"/>
            <a:ext cx="5238750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666750" y="2424112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Linguistic Feature Engineering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66750" y="2909887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program ingests raw CSV data and executes several critical transformation steps to prepare for deep learning: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90600" y="3614737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47750" y="3614737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Concatenation: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Merges Title and Text to capture headline markers and body context simultaneously.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90600" y="4129087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047750" y="4129087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Truncation: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Caps input at 128 tokens to focus on the "lead" paragraph where stylistic markers are densest.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90600" y="4643437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047750" y="4643437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Class Balancing: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Random sampling ensures the model doesn't develop a majority-class bias.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66750" y="4762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Preprocessing &amp; Preparation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666750" y="1047750"/>
            <a:ext cx="108585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424112"/>
            <a:ext cx="523875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6286500" y="2424112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Frequency Foundation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286500" y="2909887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baseline establishes what can be achieved without neural context. It relies on the statistical importance of individual tokens: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610350" y="3614737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667500" y="3614737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TF-IDF Vectorization: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Converts text into a 2,000-dimensional sparse matrix.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610350" y="4129087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667500" y="4129087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Linear Decision Boundary: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Efficiently separates articles based on specific "Fake News" keywords.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610350" y="4643437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667500" y="4643437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Constraint: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Fails on "Adversarial" fake news that uses a "Real News" vocabulary.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66750" y="4762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Baseline: Logistic Regression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666750" y="1047750"/>
            <a:ext cx="108585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424112"/>
            <a:ext cx="5238750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666750" y="2424112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Contextual Fine-Tuning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66750" y="2909887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program utilizes the HuggingFace Trainer API to specialize a pre-trained BERT model for our specific binary task: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90600" y="3614737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047750" y="3614737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Bidirectional Attention: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Reads the entire text sequence at once to find hidden semantic links.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90600" y="4129087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047750" y="4129087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Transfer Learning: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Adapts 110 million parameters from bert-base-uncased.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90600" y="4643437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047750" y="4643437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AdamW Optimizer: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Implements weight decay to prevent the model from over-relying on single biased articles.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66750" y="4762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Primary Model: BERT Fine-Tuning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666750" y="1047750"/>
            <a:ext cx="108585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/>
          <p:nvPr/>
        </p:nvSpPr>
        <p:spPr>
          <a:xfrm>
            <a:off x="666750" y="1685925"/>
            <a:ext cx="10858500" cy="43624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2" name="Google Shape;162;p18"/>
          <p:cNvGraphicFramePr/>
          <p:nvPr/>
        </p:nvGraphicFramePr>
        <p:xfrm>
          <a:off x="666750" y="16859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{92B62B3E-FD27-4178-84D0-6D260D98BCC8}</a:tableStyleId>
              </a:tblPr>
              <a:tblGrid>
                <a:gridCol w="2966150"/>
                <a:gridCol w="4080275"/>
                <a:gridCol w="3812075"/>
              </a:tblGrid>
              <a:tr h="87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Logistic Regression (Baseline)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BERT Transformer (Primary)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87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Validation 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0.9666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0.9800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F1-Score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0.9660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0.9792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Training Speed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Seconds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~10-20 Minutes (CPU)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Error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3.34%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2.00%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18"/>
          <p:cNvSpPr/>
          <p:nvPr/>
        </p:nvSpPr>
        <p:spPr>
          <a:xfrm>
            <a:off x="666750" y="3348037"/>
            <a:ext cx="29661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3632894" y="3348037"/>
            <a:ext cx="40802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7713166" y="3348037"/>
            <a:ext cx="38120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666750" y="4386262"/>
            <a:ext cx="29661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3632894" y="4386262"/>
            <a:ext cx="40802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7713166" y="4386262"/>
            <a:ext cx="38120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666750" y="4995862"/>
            <a:ext cx="29661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3632894" y="4995862"/>
            <a:ext cx="40802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7713166" y="4995862"/>
            <a:ext cx="38120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666750" y="6034087"/>
            <a:ext cx="29661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3632894" y="6034087"/>
            <a:ext cx="40802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7713166" y="6034087"/>
            <a:ext cx="38120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666750" y="4762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Quantitative Program Results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666750" y="1047750"/>
            <a:ext cx="108585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24037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014662"/>
            <a:ext cx="5238750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666750" y="1824037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 Curve Analysis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66750" y="2309812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program tracks the cross-entropy loss across logging steps to ensure stable learning: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66750" y="5224462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steep decline proves that the BERT architecture captures the stylistic "DNA" of fake news articles with extreme efficiency.</a:t>
            </a:r>
            <a:endParaRPr/>
          </a:p>
        </p:txBody>
      </p:sp>
      <p:pic>
        <p:nvPicPr>
          <p:cNvPr descr="image.png" id="187" name="Google Shape;18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928812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952500" y="3424237"/>
            <a:ext cx="4714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Initial Loss (~0.68):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Indicates high uncertainty at start of epoch.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952500" y="4110037"/>
            <a:ext cx="4714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Final Loss (~0.03):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Demonstrates successful "Convergence" where the model has mastered the patterns.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66750" y="4762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Visualizing Training Convergence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666750" y="1047750"/>
            <a:ext cx="108585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19" title="loss_curv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24600" y="1785925"/>
            <a:ext cx="5500676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866900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1971675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6286500" y="1866900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Identifying Frequency Gaps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286500" y="2352675"/>
            <a:ext cx="5238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Analyzing the 3.4% error rate in the Logistic Regression baseline: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610350" y="28003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667500" y="2800350"/>
            <a:ext cx="48577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False Positives (17):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Real news articles misidentified as fake. Likely due to the presence of provocative keywords common in satire.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610350" y="35718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6667500" y="3571875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False Negatives (13):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Fake articles that mimic professional reporting styles too closely for simple frequency analysis.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610350" y="408622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667500" y="4086225"/>
            <a:ext cx="4857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Conclusion: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Word-counting is 96% effective but hits a ceiling on nuanced articles.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66750" y="4762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Baseline: Confusion Matrix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666750" y="1047750"/>
            <a:ext cx="108585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20" title="cm_baselin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625" y="1319213"/>
            <a:ext cx="57150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66900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057525"/>
            <a:ext cx="523875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666750" y="1866900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Attention-Driven Accuracy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66750" y="2352675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BERT Transformer evaluation demonstrates the power of transfer learning: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66750" y="4581525"/>
            <a:ext cx="52387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By analyzing the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relationships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between words (Subject-Verb-Object), BERT identifies the structural "fingerprint" of misinformation that TF-IDF baselines ignore. It is resilient to "keyword-stuffing."</a:t>
            </a:r>
            <a:endParaRPr/>
          </a:p>
        </p:txBody>
      </p:sp>
      <p:pic>
        <p:nvPicPr>
          <p:cNvPr descr="image.png" id="221" name="Google Shape;22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971675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952500" y="3467100"/>
            <a:ext cx="4714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Zero Errors: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 this test sample of 100 articles, the model achieved perfect separation (52 Fake, 48 Real).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66750" y="4762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Transformer: Perfect Calibration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666750" y="1047750"/>
            <a:ext cx="108585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21" title="cm_ber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86500" y="1485900"/>
            <a:ext cx="57150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605087"/>
            <a:ext cx="523875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05087"/>
            <a:ext cx="5238750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952500" y="2843212"/>
            <a:ext cx="495061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Frequency vs. Context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952500" y="3328987"/>
            <a:ext cx="47148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Traditional models (LogReg) treat text as a "Bag of Words." They are vulnerable when the "Fake" news source mimics the "Real" vocabulary.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952500" y="4271962"/>
            <a:ext cx="4714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Outcome: Strong but brittle.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6572250" y="2843212"/>
            <a:ext cx="495061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Attention Premium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6572250" y="3328987"/>
            <a:ext cx="47148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BERT Transformer treats text as a "Sequence of Relationships." It captures the *intent* and *syntax* of the writer.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6572250" y="4271962"/>
            <a:ext cx="4714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Outcome: Robust and Context-Aware.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666750" y="4762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Comparative Program Insights</a:t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666750" y="1047750"/>
            <a:ext cx="108585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028825"/>
            <a:ext cx="1085850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3867150"/>
            <a:ext cx="10858500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952500" y="2266950"/>
            <a:ext cx="108513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Handling Dataset Bias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952500" y="2752725"/>
            <a:ext cx="10334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Our analysis suggests that while BERT is 98% accurate, it may over-index on specific sources found in the ISOT dataset. Future versions must incorporate diverse global news feeds to maintain integrity.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952500" y="4105275"/>
            <a:ext cx="108513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Real-Time Inference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952500" y="4591050"/>
            <a:ext cx="10334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current program is optimized for "Batch Evaluation." For production use, a "DistilBERT" variant should be implemented to reduce inference latency by 40% while maintaining 95%+ accuracy.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666750" y="4762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Scalability &amp; Ethical Guardrails</a:t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666750" y="1047750"/>
            <a:ext cx="10858500" cy="190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/>
          <p:nvPr/>
        </p:nvSpPr>
        <p:spPr>
          <a:xfrm>
            <a:off x="5619750" y="2457450"/>
            <a:ext cx="9525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 txBox="1"/>
          <p:nvPr/>
        </p:nvSpPr>
        <p:spPr>
          <a:xfrm>
            <a:off x="395287" y="2705100"/>
            <a:ext cx="1140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666750" y="3171825"/>
            <a:ext cx="10858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98% accuracy achieved by the BERT fine-tuning pipeline validates the hypothesis that transformers are the superior architecture for misinformation defense.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666750" y="4162425"/>
            <a:ext cx="1085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Thank you for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